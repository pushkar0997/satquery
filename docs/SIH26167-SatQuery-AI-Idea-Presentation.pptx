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photo_strip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SIH26167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SatQuery AI – An Interactive Vision-Language Assistant for Multimodal Remote Sensing Image Analysis through Text Queries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Space Technology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 [fill after portal registration]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[fill after portal registration]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850000"/>
            <a:ext cx="12191999" cy="17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>
                <a:latin typeface="Arial" pitchFamily="34" charset="0"/>
                <a:cs typeface="Arial" pitchFamily="34" charset="0"/>
              </a:rPr>
              <a:t>Problem: analysts manually interpret ISRO imagery today for agri-insurance, land records, and mining compliance – today’s workflow is Search → Select → Analyse → Interpret: slow, expertise-heavy, no natural-language access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 dirty="0">
                <a:latin typeface="Arial" pitchFamily="34" charset="0"/>
                <a:cs typeface="Arial" pitchFamily="34" charset="0"/>
              </a:rPr>
              <a:t>Solution: ask in plain language, get an answer grounded in real ISRO evidence – fills the gap between structured dashboards (SatSure) and ungrounded global search (Google Earth AI)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00" name="S2FlowBox1"/>
          <p:cNvSpPr/>
          <p:nvPr/>
        </p:nvSpPr>
        <p:spPr>
          <a:xfrm>
            <a:off x="896000" y="4500000"/>
            <a:ext cx="2375000" cy="75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0B3D66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rial"/>
                <a:cs typeface="Arial"/>
              </a:rPr>
              <a:t>Plain-Language Query</a:t>
            </a:r>
          </a:p>
        </p:txBody>
      </p:sp>
      <p:sp>
        <p:nvSpPr>
          <p:cNvPr id="301" name="S2FlowBox2"/>
          <p:cNvSpPr/>
          <p:nvPr/>
        </p:nvSpPr>
        <p:spPr>
          <a:xfrm>
            <a:off x="3571000" y="4500000"/>
            <a:ext cx="2375000" cy="750000"/>
          </a:xfrm>
          <a:prstGeom prst="roundRect">
            <a:avLst/>
          </a:prstGeom>
          <a:solidFill>
            <a:srgbClr val="5B2C6F"/>
          </a:solidFill>
          <a:ln w="12700">
            <a:solidFill>
              <a:srgbClr val="3B1A4A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rial"/>
                <a:cs typeface="Arial"/>
              </a:rPr>
              <a:t>Agent Routing</a:t>
            </a:r>
          </a:p>
        </p:txBody>
      </p:sp>
      <p:sp>
        <p:nvSpPr>
          <p:cNvPr id="302" name="S2FlowBox3"/>
          <p:cNvSpPr/>
          <p:nvPr/>
        </p:nvSpPr>
        <p:spPr>
          <a:xfrm>
            <a:off x="6246000" y="4500000"/>
            <a:ext cx="2375000" cy="75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1B5E20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rial"/>
                <a:cs typeface="Arial"/>
              </a:rPr>
              <a:t>Retrieve + Analyze (ISRO Archive)</a:t>
            </a:r>
          </a:p>
        </p:txBody>
      </p:sp>
      <p:sp>
        <p:nvSpPr>
          <p:cNvPr id="303" name="S2FlowBox4"/>
          <p:cNvSpPr/>
          <p:nvPr/>
        </p:nvSpPr>
        <p:spPr>
          <a:xfrm>
            <a:off x="8921000" y="4500000"/>
            <a:ext cx="2375000" cy="75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0B3D66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rial"/>
                <a:cs typeface="Arial"/>
              </a:rPr>
              <a:t>Validated, Grounded Answer</a:t>
            </a:r>
          </a:p>
        </p:txBody>
      </p:sp>
      <p:sp>
        <p:nvSpPr>
          <p:cNvPr id="310" name="S2Arrow1"/>
          <p:cNvSpPr/>
          <p:nvPr/>
        </p:nvSpPr>
        <p:spPr>
          <a:xfrm>
            <a:off x="3271000" y="4750000"/>
            <a:ext cx="300000" cy="25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S2Arrow2"/>
          <p:cNvSpPr/>
          <p:nvPr/>
        </p:nvSpPr>
        <p:spPr>
          <a:xfrm>
            <a:off x="5946000" y="4750000"/>
            <a:ext cx="300000" cy="25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S2Arrow3"/>
          <p:cNvSpPr/>
          <p:nvPr/>
        </p:nvSpPr>
        <p:spPr>
          <a:xfrm>
            <a:off x="8621000" y="4750000"/>
            <a:ext cx="300000" cy="25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0" name="CapCaption"/>
          <p:cNvSpPr txBox="1"/>
          <p:nvPr/>
        </p:nvSpPr>
        <p:spPr>
          <a:xfrm>
            <a:off x="450000" y="5500000"/>
            <a:ext cx="11292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n-US" sz="1050" i="1" dirty="0">
                <a:solidFill>
                  <a:srgbClr val="595959"/>
                </a:solidFill>
                <a:latin typeface="Arial"/>
                <a:cs typeface="Arial"/>
              </a:rPr>
              <a:t>Platform capabilities: semantic retrieval • VQA &amp; visual grounding • confidence scoring — change detection &amp; optical+SAR fusion (roadmap, after MVP validation)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00000"/>
            <a:ext cx="10800000" cy="14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Stack: Python, PyTorch, RemoteCLIP-family dual encoder (image + text), fine-tuned on BigEarthNet-MM, evaluated on VRSBench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Pipeline: Query → Text Encoder → Vector Search → Top-k Retrieval → Grounded Answer (flow below), sourced from the ISRO archive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SatQuery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0" name="FlowBox1"/>
          <p:cNvSpPr/>
          <p:nvPr/>
        </p:nvSpPr>
        <p:spPr>
          <a:xfrm>
            <a:off x="550000" y="5100000"/>
            <a:ext cx="2000000" cy="70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0B3D66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NL Query</a:t>
            </a:r>
          </a:p>
        </p:txBody>
      </p:sp>
      <p:sp>
        <p:nvSpPr>
          <p:cNvPr id="201" name="FlowBox2"/>
          <p:cNvSpPr/>
          <p:nvPr/>
        </p:nvSpPr>
        <p:spPr>
          <a:xfrm>
            <a:off x="2800000" y="5100000"/>
            <a:ext cx="2000000" cy="70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0B3D66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Text Encoder</a:t>
            </a:r>
          </a:p>
        </p:txBody>
      </p:sp>
      <p:sp>
        <p:nvSpPr>
          <p:cNvPr id="202" name="FlowBox3"/>
          <p:cNvSpPr/>
          <p:nvPr/>
        </p:nvSpPr>
        <p:spPr>
          <a:xfrm>
            <a:off x="5050000" y="5100000"/>
            <a:ext cx="2000000" cy="70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0B3D66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Vector Search / Retrieval Index</a:t>
            </a:r>
          </a:p>
        </p:txBody>
      </p:sp>
      <p:sp>
        <p:nvSpPr>
          <p:cNvPr id="203" name="FlowBox4"/>
          <p:cNvSpPr/>
          <p:nvPr/>
        </p:nvSpPr>
        <p:spPr>
          <a:xfrm>
            <a:off x="7300000" y="5100000"/>
            <a:ext cx="2000000" cy="70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0B3D66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Top-k Retrieved Tiles</a:t>
            </a:r>
          </a:p>
        </p:txBody>
      </p:sp>
      <p:sp>
        <p:nvSpPr>
          <p:cNvPr id="204" name="FlowBox5"/>
          <p:cNvSpPr/>
          <p:nvPr/>
        </p:nvSpPr>
        <p:spPr>
          <a:xfrm>
            <a:off x="9550000" y="5100000"/>
            <a:ext cx="2000000" cy="70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0B3D66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Grounded Answer</a:t>
            </a:r>
          </a:p>
        </p:txBody>
      </p:sp>
      <p:sp>
        <p:nvSpPr>
          <p:cNvPr id="210" name="Arrow1"/>
          <p:cNvSpPr/>
          <p:nvPr/>
        </p:nvSpPr>
        <p:spPr>
          <a:xfrm>
            <a:off x="2550000" y="5325000"/>
            <a:ext cx="250000" cy="25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Arrow2"/>
          <p:cNvSpPr/>
          <p:nvPr/>
        </p:nvSpPr>
        <p:spPr>
          <a:xfrm>
            <a:off x="4800000" y="5325000"/>
            <a:ext cx="250000" cy="25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Arrow3"/>
          <p:cNvSpPr/>
          <p:nvPr/>
        </p:nvSpPr>
        <p:spPr>
          <a:xfrm>
            <a:off x="7050000" y="5325000"/>
            <a:ext cx="250000" cy="25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Arrow4"/>
          <p:cNvSpPr/>
          <p:nvPr/>
        </p:nvSpPr>
        <p:spPr>
          <a:xfrm>
            <a:off x="9300000" y="5325000"/>
            <a:ext cx="250000" cy="25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ArchiveBox"/>
          <p:cNvSpPr/>
          <p:nvPr/>
        </p:nvSpPr>
        <p:spPr>
          <a:xfrm>
            <a:off x="5050000" y="3950000"/>
            <a:ext cx="2000000" cy="7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1B5E20"/>
            </a:solidFill>
          </a:ln>
        </p:spPr>
        <p:txBody>
          <a:bodyPr wrap="square" anchor="ctr" lIns="45720" rIns="45720" tIns="22860" bIns="22860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ISRO Bhuvan / NRSC Archive (Bhoonidhi)</a:t>
            </a:r>
          </a:p>
        </p:txBody>
      </p:sp>
      <p:sp>
        <p:nvSpPr>
          <p:cNvPr id="221" name="DownArrow1"/>
          <p:cNvSpPr/>
          <p:nvPr/>
        </p:nvSpPr>
        <p:spPr>
          <a:xfrm>
            <a:off x="5900000" y="4650000"/>
            <a:ext cx="300000" cy="300000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ArchiveCaption"/>
          <p:cNvSpPr txBox="1"/>
          <p:nvPr/>
        </p:nvSpPr>
        <p:spPr>
          <a:xfrm>
            <a:off x="4900000" y="360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900" i="1" dirty="0">
                <a:solidFill>
                  <a:srgbClr val="595959"/>
                </a:solidFill>
                <a:latin typeface="Arial"/>
              </a:rPr>
              <a:t>offline ingestion → Image Encoder</a:t>
            </a:r>
          </a:p>
        </p:txBody>
      </p:sp>
      <p:sp>
        <p:nvSpPr>
          <p:cNvPr id="230" name="AgentContinuity"/>
          <p:cNvSpPr txBox="1"/>
          <p:nvPr/>
        </p:nvSpPr>
        <p:spPr>
          <a:xfrm>
            <a:off x="550000" y="5900000"/>
            <a:ext cx="11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n-US" sz="1050" i="1" dirty="0">
                <a:solidFill>
                  <a:srgbClr val="595959"/>
                </a:solidFill>
                <a:latin typeface="Arial"/>
                <a:cs typeface="Arial"/>
              </a:rPr>
              <a:t>MVP path shown in full; the same agent layer routes to change-detection and optical+SAR specialist models post-validation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400" name="S4Card1"/>
          <p:cNvSpPr/>
          <p:nvPr/>
        </p:nvSpPr>
        <p:spPr>
          <a:xfrm>
            <a:off x="500000" y="1400000"/>
            <a:ext cx="5446000" cy="19000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0B3D66"/>
            </a:solidFill>
          </a:ln>
        </p:spPr>
        <p:txBody>
          <a:bodyPr wrap="square" anchor="t" lIns="137160" rIns="137160" tIns="91440" bIns="91440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FEASIBILITY</a:t>
            </a:r>
          </a:p>
          <a:p>
            <a:pPr algn="l">
              <a:spcBef>
                <a:spcPts val="600"/>
              </a:spcBef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Pretrained encoders + open datasets (BigEarthNet, VRSBench) → fine-tuning, not new invention. Main risk: retrieval accuracy on Indian-specific terrain classes.</a:t>
            </a:r>
          </a:p>
        </p:txBody>
      </p:sp>
      <p:sp>
        <p:nvSpPr>
          <p:cNvPr id="401" name="S4Card2"/>
          <p:cNvSpPr/>
          <p:nvPr/>
        </p:nvSpPr>
        <p:spPr>
          <a:xfrm>
            <a:off x="6246000" y="1400000"/>
            <a:ext cx="5446000" cy="1900000"/>
          </a:xfrm>
          <a:prstGeom prst="roundRect">
            <a:avLst/>
          </a:prstGeom>
          <a:solidFill>
            <a:srgbClr val="B5651D"/>
          </a:solidFill>
          <a:ln w="12700">
            <a:solidFill>
              <a:srgbClr val="7A4310"/>
            </a:solidFill>
          </a:ln>
        </p:spPr>
        <p:txBody>
          <a:bodyPr wrap="square" anchor="t" lIns="137160" rIns="137160" tIns="91440" bIns="91440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RISK</a:t>
            </a:r>
          </a:p>
          <a:p>
            <a:pPr algn="l">
              <a:spcBef>
                <a:spcPts val="500"/>
              </a:spcBef>
            </a:pPr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Indian Domain Gap: </a:t>
            </a: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training data may not fully represent Indian terrain</a:t>
            </a:r>
          </a:p>
          <a:p>
            <a:pPr algn="l">
              <a:spcBef>
                <a:spcPts val="400"/>
              </a:spcBef>
            </a:pPr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Multimodal Complexity: </a:t>
            </a: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optical, SAR &amp; temporal data need different analysis</a:t>
            </a:r>
          </a:p>
          <a:p>
            <a:pPr algn="l">
              <a:spcBef>
                <a:spcPts val="400"/>
              </a:spcBef>
            </a:pPr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AI Reliability: </a:t>
            </a: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plausible answers can still be incorrect</a:t>
            </a:r>
          </a:p>
        </p:txBody>
      </p:sp>
      <p:sp>
        <p:nvSpPr>
          <p:cNvPr id="402" name="S4Card3"/>
          <p:cNvSpPr/>
          <p:nvPr/>
        </p:nvSpPr>
        <p:spPr>
          <a:xfrm>
            <a:off x="500000" y="3550000"/>
            <a:ext cx="5446000" cy="19000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1B5E20"/>
            </a:solidFill>
          </a:ln>
        </p:spPr>
        <p:txBody>
          <a:bodyPr wrap="square" anchor="t" lIns="137160" rIns="137160" tIns="91440" bIns="91440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MITIGATION</a:t>
            </a:r>
          </a:p>
          <a:p>
            <a:pPr algn="l">
              <a:spcBef>
                <a:spcPts val="500"/>
              </a:spcBef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MVP proves retrieval + grounded VQA end-to-end on one region first – change detection &amp; SAR fusion phased in after validation</a:t>
            </a:r>
          </a:p>
          <a:p>
            <a:pPr algn="l">
              <a:spcBef>
                <a:spcPts val="400"/>
              </a:spcBef>
            </a:pPr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Trust: </a:t>
            </a: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every answer ships with evidence, a confidence score, and an execution trace</a:t>
            </a:r>
          </a:p>
        </p:txBody>
      </p:sp>
      <p:sp>
        <p:nvSpPr>
          <p:cNvPr id="403" name="S4Card4"/>
          <p:cNvSpPr/>
          <p:nvPr/>
        </p:nvSpPr>
        <p:spPr>
          <a:xfrm>
            <a:off x="6246000" y="3550000"/>
            <a:ext cx="5446000" cy="1900000"/>
          </a:xfrm>
          <a:prstGeom prst="roundRect">
            <a:avLst/>
          </a:prstGeom>
          <a:solidFill>
            <a:srgbClr val="5B2C6F"/>
          </a:solidFill>
          <a:ln w="12700">
            <a:solidFill>
              <a:srgbClr val="3B1A4A"/>
            </a:solidFill>
          </a:ln>
        </p:spPr>
        <p:txBody>
          <a:bodyPr wrap="square" anchor="t" lIns="137160" rIns="137160" tIns="91440" bIns="91440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BUSINESS MODEL (UNIT ECONOMICS)</a:t>
            </a:r>
          </a:p>
          <a:p>
            <a:pPr algn="l">
              <a:spcBef>
                <a:spcPts val="600"/>
              </a:spcBef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Usage-based per-query/report API to agri-insurance, land-record &amp; mining-compliance verticals – priced below enterprise GEOINT contracts (SatSure, Google Cloud), since ISRO archive access is the cost base.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500" name="ImpactBanner"/>
          <p:cNvSpPr txBox="1"/>
          <p:nvPr/>
        </p:nvSpPr>
        <p:spPr>
          <a:xfrm>
            <a:off x="450000" y="1150000"/>
            <a:ext cx="11292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n-US" sz="1500" b="1" i="1" dirty="0">
                <a:solidFill>
                  <a:srgbClr val="1F4E79"/>
                </a:solidFill>
                <a:latin typeface="Arial"/>
                <a:cs typeface="Arial"/>
              </a:rPr>
              <a:t>What this solves: turns a static satellite archive into a decision-ready answer, in plain language</a:t>
            </a:r>
          </a:p>
        </p:txBody>
      </p:sp>
      <p:pic>
        <p:nvPicPr>
          <p:cNvPr id="510" name="ImpactPhotoStrip"/>
          <p:cNvPicPr>
            <a:picLocks noChangeAspect="1"/>
          </p:cNvPicPr>
          <p:nvPr/>
        </p:nvPicPr>
        <p:blipFill>
          <a:blip r:embed="rId4"/>
          <a:srcRect t="30345" b="30345"/>
          <a:stretch>
            <a:fillRect/>
          </a:stretch>
        </p:blipFill>
        <p:spPr>
          <a:xfrm>
            <a:off x="450000" y="1650000"/>
            <a:ext cx="11292000" cy="2300000"/>
          </a:xfrm>
          <a:prstGeom prst="roundRect">
            <a:avLst>
              <a:gd name="adj" fmla="val 4000"/>
            </a:avLst>
          </a:prstGeom>
          <a:ln w="19050">
            <a:solidFill>
              <a:srgbClr val="FFFFFF"/>
            </a:solidFill>
          </a:ln>
        </p:spPr>
      </p:pic>
      <p:sp>
        <p:nvSpPr>
          <p:cNvPr id="520" name="Caption1"/>
          <p:cNvSpPr txBox="1"/>
          <p:nvPr/>
        </p:nvSpPr>
        <p:spPr>
          <a:xfrm>
            <a:off x="450000" y="4050000"/>
            <a:ext cx="2723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n-US" sz="1200" b="1" i="0" dirty="0">
                <a:solidFill>
                  <a:srgbClr val="1F4E79"/>
                </a:solidFill>
                <a:latin typeface="Arial"/>
                <a:cs typeface="Arial"/>
              </a:rPr>
              <a:t>AGRI-INSURANCE</a:t>
            </a:r>
          </a:p>
          <a:p>
            <a:pPr algn="l">
              <a:spcBef>
                <a:spcPts val="400"/>
              </a:spcBef>
            </a:pPr>
            <a:r>
              <a:rPr lang="en-US" sz="1050" b="0" i="1" dirty="0">
                <a:solidFill>
                  <a:srgbClr val="404040"/>
                </a:solidFill>
                <a:latin typeface="Arial"/>
                <a:cs typeface="Arial"/>
              </a:rPr>
              <a:t>“Does this field show crop damage?”</a:t>
            </a:r>
          </a:p>
          <a:p>
            <a:pPr algn="l">
              <a:spcBef>
                <a:spcPts val="400"/>
              </a:spcBef>
            </a:pPr>
            <a:r>
              <a:rPr lang="en-US" sz="1050" b="1" i="0" dirty="0">
                <a:solidFill>
                  <a:srgbClr val="2E7D32"/>
                </a:solidFill>
                <a:latin typeface="Arial"/>
                <a:cs typeface="Arial"/>
              </a:rPr>
              <a:t>Impact: Faster claim assessment</a:t>
            </a:r>
          </a:p>
        </p:txBody>
      </p:sp>
      <p:sp>
        <p:nvSpPr>
          <p:cNvPr id="521" name="Caption2"/>
          <p:cNvSpPr txBox="1"/>
          <p:nvPr/>
        </p:nvSpPr>
        <p:spPr>
          <a:xfrm>
            <a:off x="3273000" y="4050000"/>
            <a:ext cx="2723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n-US" sz="1200" b="1" i="0" dirty="0">
                <a:solidFill>
                  <a:srgbClr val="1F4E79"/>
                </a:solidFill>
                <a:latin typeface="Arial"/>
                <a:cs typeface="Arial"/>
              </a:rPr>
              <a:t>LAND RECORDS</a:t>
            </a:r>
          </a:p>
          <a:p>
            <a:pPr algn="l">
              <a:spcBef>
                <a:spcPts val="400"/>
              </a:spcBef>
            </a:pPr>
            <a:r>
              <a:rPr lang="en-US" sz="1050" b="0" i="1" dirty="0">
                <a:solidFill>
                  <a:srgbClr val="404040"/>
                </a:solidFill>
                <a:latin typeface="Arial"/>
                <a:cs typeface="Arial"/>
              </a:rPr>
              <a:t>“Show construction beyond this boundary.”</a:t>
            </a:r>
          </a:p>
          <a:p>
            <a:pPr algn="l">
              <a:spcBef>
                <a:spcPts val="400"/>
              </a:spcBef>
            </a:pPr>
            <a:r>
              <a:rPr lang="en-US" sz="1050" b="1" i="0" dirty="0">
                <a:solidFill>
                  <a:srgbClr val="2E7D32"/>
                </a:solidFill>
                <a:latin typeface="Arial"/>
                <a:cs typeface="Arial"/>
              </a:rPr>
              <a:t>Impact: Accessible geospatial analysis</a:t>
            </a:r>
          </a:p>
        </p:txBody>
      </p:sp>
      <p:sp>
        <p:nvSpPr>
          <p:cNvPr id="522" name="Caption3"/>
          <p:cNvSpPr txBox="1"/>
          <p:nvPr/>
        </p:nvSpPr>
        <p:spPr>
          <a:xfrm>
            <a:off x="6096000" y="4050000"/>
            <a:ext cx="2723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n-US" sz="1200" b="1" i="0" dirty="0">
                <a:solidFill>
                  <a:srgbClr val="1F4E79"/>
                </a:solidFill>
                <a:latin typeface="Arial"/>
                <a:cs typeface="Arial"/>
              </a:rPr>
              <a:t>MINING &amp; ENVIRONMENT</a:t>
            </a:r>
          </a:p>
          <a:p>
            <a:pPr algn="l">
              <a:spcBef>
                <a:spcPts val="400"/>
              </a:spcBef>
            </a:pPr>
            <a:r>
              <a:rPr lang="en-US" sz="1050" b="0" i="1" dirty="0">
                <a:solidFill>
                  <a:srgbClr val="404040"/>
                </a:solidFill>
                <a:latin typeface="Arial"/>
                <a:cs typeface="Arial"/>
              </a:rPr>
              <a:t>“What changed around this mining lease?”</a:t>
            </a:r>
          </a:p>
          <a:p>
            <a:pPr algn="l">
              <a:spcBef>
                <a:spcPts val="400"/>
              </a:spcBef>
            </a:pPr>
            <a:r>
              <a:rPr lang="en-US" sz="1050" b="1" i="0" dirty="0">
                <a:solidFill>
                  <a:srgbClr val="2E7D32"/>
                </a:solidFill>
                <a:latin typeface="Arial"/>
                <a:cs typeface="Arial"/>
              </a:rPr>
              <a:t>Impact: Faster compliance screening</a:t>
            </a:r>
          </a:p>
        </p:txBody>
      </p:sp>
      <p:sp>
        <p:nvSpPr>
          <p:cNvPr id="523" name="Caption4"/>
          <p:cNvSpPr txBox="1"/>
          <p:nvPr/>
        </p:nvSpPr>
        <p:spPr>
          <a:xfrm>
            <a:off x="8919000" y="4050000"/>
            <a:ext cx="2723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n-US" sz="1200" b="1" i="0" dirty="0">
                <a:solidFill>
                  <a:srgbClr val="1F4E79"/>
                </a:solidFill>
                <a:latin typeface="Arial"/>
                <a:cs typeface="Arial"/>
              </a:rPr>
              <a:t>DISASTER RESPONSE</a:t>
            </a:r>
          </a:p>
          <a:p>
            <a:pPr algn="l">
              <a:spcBef>
                <a:spcPts val="400"/>
              </a:spcBef>
            </a:pPr>
            <a:r>
              <a:rPr lang="en-US" sz="1050" b="0" i="1" dirty="0">
                <a:solidFill>
                  <a:srgbClr val="404040"/>
                </a:solidFill>
                <a:latin typeface="Arial"/>
                <a:cs typeface="Arial"/>
              </a:rPr>
              <a:t>“Which areas changed after the flood?”</a:t>
            </a:r>
          </a:p>
          <a:p>
            <a:pPr algn="l">
              <a:spcBef>
                <a:spcPts val="400"/>
              </a:spcBef>
            </a:pPr>
            <a:r>
              <a:rPr lang="en-US" sz="1050" b="1" i="0" dirty="0">
                <a:solidFill>
                  <a:srgbClr val="2E7D32"/>
                </a:solidFill>
                <a:latin typeface="Arial"/>
                <a:cs typeface="Arial"/>
              </a:rPr>
              <a:t>Impact: Faster satellite-to-decision</a:t>
            </a:r>
          </a:p>
        </p:txBody>
      </p:sp>
      <p:sp>
        <p:nvSpPr>
          <p:cNvPr id="530" name="BottomLine"/>
          <p:cNvSpPr txBox="1"/>
          <p:nvPr/>
        </p:nvSpPr>
        <p:spPr>
          <a:xfrm>
            <a:off x="450000" y="6080000"/>
            <a:ext cx="11292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n-US" sz="1100" b="0" i="1" dirty="0">
                <a:solidFill>
                  <a:srgbClr val="595959"/>
                </a:solidFill>
                <a:latin typeface="Arial"/>
                <a:cs typeface="Arial"/>
              </a:rPr>
              <a:t>Bottom line: AI doesn’t replace experts — it accelerates their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10800000" cy="3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BigEarthNet-MM dataset (arXiv:2603.29630) – primary fine-tuning corpus (Sentinel-1 SAR + Sentinel-2 multispectral, co-registered)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VRSBench – public evaluation benchmark for remote-sensing vision-language tasks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Prior art (open research, acknowledged directly): RemoteCLIP, GeoChat, TEOChat – remote-sensing vision-language architectures this design builds 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Adjacent commercial/global tools (differentiation, not duplication): SatSure SatScore (structured analytics, not conversational); Google Maps Platform Aerial &amp; Satellite Insights (global zero-shot search, no ISRO archive integration)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7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 source: ISRO Bhuvan / NRSC data portal, accessed via Bhoonidhi (Department of Space)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SatQuery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7514</TotalTime>
  <Words>697</Words>
  <Application>Microsoft Office PowerPoint</Application>
  <PresentationFormat>Widescreen</PresentationFormat>
  <Paragraphs>125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  <vt:lpstr>Rubrics of Evaluation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Santosh Darade</cp:lastModifiedBy>
  <cp:revision>151</cp:revision>
  <dcterms:created xsi:type="dcterms:W3CDTF">2013-12-12T18:46:50Z</dcterms:created>
  <dcterms:modified xsi:type="dcterms:W3CDTF">2026-08-18T06:12:35Z</dcterms:modified>
  <cp:category/>
</cp:coreProperties>
</file>